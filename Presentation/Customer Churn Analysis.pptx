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65" r:id="rId4"/>
    <p:sldId id="266" r:id="rId5"/>
    <p:sldId id="267" r:id="rId6"/>
    <p:sldId id="268" r:id="rId7"/>
    <p:sldId id="269" r:id="rId8"/>
    <p:sldId id="257" r:id="rId9"/>
    <p:sldId id="258" r:id="rId10"/>
    <p:sldId id="259" r:id="rId11"/>
    <p:sldId id="260" r:id="rId12"/>
    <p:sldId id="261" r:id="rId13"/>
    <p:sldId id="262" r:id="rId14"/>
    <p:sldId id="26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4660"/>
  </p:normalViewPr>
  <p:slideViewPr>
    <p:cSldViewPr snapToGrid="0">
      <p:cViewPr varScale="1">
        <p:scale>
          <a:sx n="74" d="100"/>
          <a:sy n="74" d="100"/>
        </p:scale>
        <p:origin x="127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DB6861-3B08-45EC-8EBE-C364A5EE1D12}"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3576692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DB6861-3B08-45EC-8EBE-C364A5EE1D12}"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1496840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DB6861-3B08-45EC-8EBE-C364A5EE1D12}"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900596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DB6861-3B08-45EC-8EBE-C364A5EE1D12}" type="datetimeFigureOut">
              <a:rPr lang="en-IN" smtClean="0"/>
              <a:t>12-11-2025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3868969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DB6861-3B08-45EC-8EBE-C364A5EE1D12}" type="datetimeFigureOut">
              <a:rPr lang="en-IN" smtClean="0"/>
              <a:t>12-11-2025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1188641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DB6861-3B08-45EC-8EBE-C364A5EE1D12}" type="datetimeFigureOut">
              <a:rPr lang="en-IN" smtClean="0"/>
              <a:t>12-11-2025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3446520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DB6861-3B08-45EC-8EBE-C364A5EE1D12}" type="datetimeFigureOut">
              <a:rPr lang="en-IN" smtClean="0"/>
              <a:t>12-11-2025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1379745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5DB6861-3B08-45EC-8EBE-C364A5EE1D12}" type="datetimeFigureOut">
              <a:rPr lang="en-IN" smtClean="0"/>
              <a:t>12-11-2025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4196437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DB6861-3B08-45EC-8EBE-C364A5EE1D12}" type="datetimeFigureOut">
              <a:rPr lang="en-IN" smtClean="0"/>
              <a:t>12-11-2025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3800814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DB6861-3B08-45EC-8EBE-C364A5EE1D12}"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755082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DB6861-3B08-45EC-8EBE-C364A5EE1D12}"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64211-D387-4DFA-941B-30E8059457A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34215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DB6861-3B08-45EC-8EBE-C364A5EE1D12}"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342242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DB6861-3B08-45EC-8EBE-C364A5EE1D12}"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64211-D387-4DFA-941B-30E8059457A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182700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DB6861-3B08-45EC-8EBE-C364A5EE1D12}"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14708342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DB6861-3B08-45EC-8EBE-C364A5EE1D12}"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3222891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DB6861-3B08-45EC-8EBE-C364A5EE1D12}"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64211-D387-4DFA-941B-30E8059457A4}" type="slidenum">
              <a:rPr lang="en-IN" smtClean="0"/>
              <a:t>‹#›</a:t>
            </a:fld>
            <a:endParaRPr lang="en-IN"/>
          </a:p>
        </p:txBody>
      </p:sp>
    </p:spTree>
    <p:extLst>
      <p:ext uri="{BB962C8B-B14F-4D97-AF65-F5344CB8AC3E}">
        <p14:creationId xmlns:p14="http://schemas.microsoft.com/office/powerpoint/2010/main" val="3879049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DB6861-3B08-45EC-8EBE-C364A5EE1D12}" type="datetimeFigureOut">
              <a:rPr lang="en-IN" smtClean="0"/>
              <a:t>12-11-2025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2664211-D387-4DFA-941B-30E8059457A4}" type="slidenum">
              <a:rPr lang="en-IN" smtClean="0"/>
              <a:t>‹#›</a:t>
            </a:fld>
            <a:endParaRPr lang="en-IN"/>
          </a:p>
        </p:txBody>
      </p:sp>
    </p:spTree>
    <p:extLst>
      <p:ext uri="{BB962C8B-B14F-4D97-AF65-F5344CB8AC3E}">
        <p14:creationId xmlns:p14="http://schemas.microsoft.com/office/powerpoint/2010/main" val="17134225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FC911-D13C-4E84-85E0-A9BC909648D4}"/>
              </a:ext>
            </a:extLst>
          </p:cNvPr>
          <p:cNvSpPr>
            <a:spLocks noGrp="1"/>
          </p:cNvSpPr>
          <p:nvPr>
            <p:ph type="ctrTitle"/>
          </p:nvPr>
        </p:nvSpPr>
        <p:spPr/>
        <p:txBody>
          <a:bodyPr/>
          <a:lstStyle/>
          <a:p>
            <a:r>
              <a:rPr lang="en-US" b="1" dirty="0">
                <a:solidFill>
                  <a:schemeClr val="accent1">
                    <a:lumMod val="60000"/>
                    <a:lumOff val="40000"/>
                  </a:schemeClr>
                </a:solidFill>
                <a:latin typeface="Times New Roman" panose="02020603050405020304" pitchFamily="18" charset="0"/>
                <a:cs typeface="Times New Roman" panose="02020603050405020304" pitchFamily="18" charset="0"/>
              </a:rPr>
              <a:t>Customer Churn Analysis</a:t>
            </a:r>
            <a:endParaRPr lang="en-IN" b="1"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9F6CB95-82FE-5205-7F4C-08DB00C1495F}"/>
              </a:ext>
            </a:extLst>
          </p:cNvPr>
          <p:cNvSpPr>
            <a:spLocks noGrp="1"/>
          </p:cNvSpPr>
          <p:nvPr>
            <p:ph type="subTitle" idx="1"/>
          </p:nvPr>
        </p:nvSpPr>
        <p:spPr/>
        <p:txBody>
          <a:bodyPr/>
          <a:lstStyle/>
          <a:p>
            <a:r>
              <a:rPr lang="en-US" dirty="0"/>
              <a:t> </a:t>
            </a:r>
            <a:endParaRPr lang="en-IN" dirty="0"/>
          </a:p>
        </p:txBody>
      </p:sp>
    </p:spTree>
    <p:extLst>
      <p:ext uri="{BB962C8B-B14F-4D97-AF65-F5344CB8AC3E}">
        <p14:creationId xmlns:p14="http://schemas.microsoft.com/office/powerpoint/2010/main" val="161744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0E365B-8E10-F3FE-E9A2-74835686F3DC}"/>
              </a:ext>
            </a:extLst>
          </p:cNvPr>
          <p:cNvSpPr>
            <a:spLocks noGrp="1"/>
          </p:cNvSpPr>
          <p:nvPr>
            <p:ph type="ctrTitle"/>
          </p:nvPr>
        </p:nvSpPr>
        <p:spPr/>
        <p:txBody>
          <a:bodyPr/>
          <a:lstStyle/>
          <a:p>
            <a:pPr algn="l"/>
            <a:r>
              <a:rPr lang="en-US" b="1" dirty="0">
                <a:solidFill>
                  <a:schemeClr val="accent1">
                    <a:lumMod val="60000"/>
                    <a:lumOff val="40000"/>
                  </a:schemeClr>
                </a:solidFill>
                <a:latin typeface="Times New Roman" panose="02020603050405020304" pitchFamily="18" charset="0"/>
                <a:cs typeface="Times New Roman" panose="02020603050405020304" pitchFamily="18" charset="0"/>
              </a:rPr>
              <a:t>Key Insights derived from EDA</a:t>
            </a:r>
            <a:endParaRPr lang="en-IN" b="1"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5" name="Subtitle 4">
            <a:extLst>
              <a:ext uri="{FF2B5EF4-FFF2-40B4-BE49-F238E27FC236}">
                <a16:creationId xmlns:a16="http://schemas.microsoft.com/office/drawing/2014/main" id="{4506DB27-D88D-E1C9-94EC-C5A37F1E150F}"/>
              </a:ext>
            </a:extLst>
          </p:cNvPr>
          <p:cNvSpPr>
            <a:spLocks noGrp="1"/>
          </p:cNvSpPr>
          <p:nvPr>
            <p:ph type="subTitle" idx="1"/>
          </p:nvPr>
        </p:nvSpPr>
        <p:spPr/>
        <p:txBody>
          <a:bodyPr/>
          <a:lstStyle/>
          <a:p>
            <a:r>
              <a:rPr lang="en-US" dirty="0"/>
              <a:t> </a:t>
            </a:r>
            <a:endParaRPr lang="en-IN" dirty="0"/>
          </a:p>
        </p:txBody>
      </p:sp>
    </p:spTree>
    <p:extLst>
      <p:ext uri="{BB962C8B-B14F-4D97-AF65-F5344CB8AC3E}">
        <p14:creationId xmlns:p14="http://schemas.microsoft.com/office/powerpoint/2010/main" val="1901946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C1F91-014C-4456-D486-C1E1DF9CE09F}"/>
              </a:ext>
            </a:extLst>
          </p:cNvPr>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Impact of Internet Service on Customer Churn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9B76736-E592-F7A8-827E-4DCC7F28D82B}"/>
              </a:ext>
            </a:extLst>
          </p:cNvPr>
          <p:cNvSpPr>
            <a:spLocks noGrp="1"/>
          </p:cNvSpPr>
          <p:nvPr>
            <p:ph idx="1"/>
          </p:nvPr>
        </p:nvSpPr>
        <p:spPr/>
        <p:txBody>
          <a:bodyPr>
            <a:normAutofit fontScale="92500" lnSpcReduction="20000"/>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Customers with Internet service have a higher churn rate (</a:t>
            </a:r>
            <a:r>
              <a:rPr lang="en-US" b="1" dirty="0">
                <a:latin typeface="Times New Roman" panose="02020603050405020304" pitchFamily="18" charset="0"/>
                <a:cs typeface="Times New Roman" panose="02020603050405020304" pitchFamily="18" charset="0"/>
              </a:rPr>
              <a:t>31.8%</a:t>
            </a:r>
            <a:r>
              <a:rPr lang="en-US" dirty="0">
                <a:latin typeface="Times New Roman" panose="02020603050405020304" pitchFamily="18" charset="0"/>
                <a:cs typeface="Times New Roman" panose="02020603050405020304" pitchFamily="18" charset="0"/>
              </a:rPr>
              <a:t>) compared to those without (</a:t>
            </a:r>
            <a:r>
              <a:rPr lang="en-US" b="1" dirty="0">
                <a:latin typeface="Times New Roman" panose="02020603050405020304" pitchFamily="18" charset="0"/>
                <a:cs typeface="Times New Roman" panose="02020603050405020304" pitchFamily="18" charset="0"/>
              </a:rPr>
              <a:t>7.4%</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Indicates potential issues with service quality, pricing, or customer satisfaction.</a:t>
            </a:r>
          </a:p>
          <a:p>
            <a:r>
              <a:rPr lang="en-IN" dirty="0">
                <a:latin typeface="Times New Roman" panose="02020603050405020304" pitchFamily="18" charset="0"/>
                <a:cs typeface="Times New Roman" panose="02020603050405020304" pitchFamily="18" charset="0"/>
              </a:rPr>
              <a:t>Improve Service Quality</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Ensure stable, fast, and reliable internet connections.</a:t>
            </a:r>
          </a:p>
          <a:p>
            <a:r>
              <a:rPr lang="en-US" dirty="0">
                <a:latin typeface="Times New Roman" panose="02020603050405020304" pitchFamily="18" charset="0"/>
                <a:cs typeface="Times New Roman" panose="02020603050405020304" pitchFamily="18" charset="0"/>
              </a:rPr>
              <a:t>Feedback Collection: Regularly gather feedback to identify pain points and act on them.</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5B43E41-6547-2869-34C7-F75E8AF18E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001" y="1270000"/>
            <a:ext cx="6272797" cy="3146095"/>
          </a:xfrm>
          <a:prstGeom prst="rect">
            <a:avLst/>
          </a:prstGeom>
        </p:spPr>
      </p:pic>
    </p:spTree>
    <p:extLst>
      <p:ext uri="{BB962C8B-B14F-4D97-AF65-F5344CB8AC3E}">
        <p14:creationId xmlns:p14="http://schemas.microsoft.com/office/powerpoint/2010/main" val="837854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4C26A-F974-43F6-2E5D-1B95A2A8F655}"/>
              </a:ext>
            </a:extLst>
          </p:cNvPr>
          <p:cNvSpPr>
            <a:spLocks noGrp="1"/>
          </p:cNvSpPr>
          <p:nvPr>
            <p:ph type="title"/>
          </p:nvPr>
        </p:nvSpPr>
        <p:spPr>
          <a:xfrm>
            <a:off x="677334" y="250293"/>
            <a:ext cx="8596668" cy="591371"/>
          </a:xfrm>
        </p:spPr>
        <p:txBody>
          <a:bodyPr>
            <a:normAutofit/>
          </a:bodyPr>
          <a:lstStyle/>
          <a:p>
            <a:pPr algn="ctr"/>
            <a:r>
              <a:rPr lang="en-US" sz="3200" dirty="0">
                <a:latin typeface="Times New Roman" panose="02020603050405020304" pitchFamily="18" charset="0"/>
                <a:cs typeface="Times New Roman" panose="02020603050405020304" pitchFamily="18" charset="0"/>
              </a:rPr>
              <a:t>Impact of Online Security on Customer Churn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F06B49-163C-8E85-3422-594E8C5B8401}"/>
              </a:ext>
            </a:extLst>
          </p:cNvPr>
          <p:cNvSpPr>
            <a:spLocks noGrp="1"/>
          </p:cNvSpPr>
          <p:nvPr>
            <p:ph idx="1"/>
          </p:nvPr>
        </p:nvSpPr>
        <p:spPr>
          <a:xfrm>
            <a:off x="677334" y="2078182"/>
            <a:ext cx="8596668" cy="4779818"/>
          </a:xfrm>
        </p:spPr>
        <p:txBody>
          <a:bodyPr>
            <a:normAutofit fontScale="40000" lnSpcReduction="20000"/>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sz="3800" dirty="0">
              <a:latin typeface="Times New Roman" panose="02020603050405020304" pitchFamily="18" charset="0"/>
              <a:cs typeface="Times New Roman" panose="02020603050405020304" pitchFamily="18" charset="0"/>
            </a:endParaRPr>
          </a:p>
          <a:p>
            <a:r>
              <a:rPr lang="en-US" sz="3800" dirty="0">
                <a:latin typeface="Times New Roman" panose="02020603050405020304" pitchFamily="18" charset="0"/>
                <a:cs typeface="Times New Roman" panose="02020603050405020304" pitchFamily="18" charset="0"/>
              </a:rPr>
              <a:t>Customers without online security have the highest churn </a:t>
            </a:r>
            <a:r>
              <a:rPr lang="en-US" sz="3800" b="1" dirty="0">
                <a:latin typeface="Times New Roman" panose="02020603050405020304" pitchFamily="18" charset="0"/>
                <a:cs typeface="Times New Roman" panose="02020603050405020304" pitchFamily="18" charset="0"/>
              </a:rPr>
              <a:t>(41.7%)</a:t>
            </a:r>
            <a:r>
              <a:rPr lang="en-US" sz="3800" dirty="0">
                <a:latin typeface="Times New Roman" panose="02020603050405020304" pitchFamily="18" charset="0"/>
                <a:cs typeface="Times New Roman" panose="02020603050405020304" pitchFamily="18" charset="0"/>
              </a:rPr>
              <a:t>, indicating they are the most at-risk segment.</a:t>
            </a:r>
          </a:p>
          <a:p>
            <a:r>
              <a:rPr lang="en-US" sz="3800" dirty="0">
                <a:latin typeface="Times New Roman" panose="02020603050405020304" pitchFamily="18" charset="0"/>
                <a:cs typeface="Times New Roman" panose="02020603050405020304" pitchFamily="18" charset="0"/>
              </a:rPr>
              <a:t>Customers with online security show a much lower churn rate </a:t>
            </a:r>
            <a:r>
              <a:rPr lang="en-US" sz="3800" b="1" dirty="0">
                <a:latin typeface="Times New Roman" panose="02020603050405020304" pitchFamily="18" charset="0"/>
                <a:cs typeface="Times New Roman" panose="02020603050405020304" pitchFamily="18" charset="0"/>
              </a:rPr>
              <a:t>(14.6%)</a:t>
            </a:r>
            <a:r>
              <a:rPr lang="en-US" sz="3800" dirty="0">
                <a:latin typeface="Times New Roman" panose="02020603050405020304" pitchFamily="18" charset="0"/>
                <a:cs typeface="Times New Roman" panose="02020603050405020304" pitchFamily="18" charset="0"/>
              </a:rPr>
              <a:t>, suggesting the service helps retain customers.</a:t>
            </a:r>
          </a:p>
          <a:p>
            <a:r>
              <a:rPr lang="en-US" sz="3800" dirty="0">
                <a:latin typeface="Times New Roman" panose="02020603050405020304" pitchFamily="18" charset="0"/>
                <a:cs typeface="Times New Roman" panose="02020603050405020304" pitchFamily="18" charset="0"/>
              </a:rPr>
              <a:t>Customers marked as No Internet have a low churn rate </a:t>
            </a:r>
            <a:r>
              <a:rPr lang="en-US" sz="3800" b="1" dirty="0">
                <a:latin typeface="Times New Roman" panose="02020603050405020304" pitchFamily="18" charset="0"/>
                <a:cs typeface="Times New Roman" panose="02020603050405020304" pitchFamily="18" charset="0"/>
              </a:rPr>
              <a:t>(7.4%)</a:t>
            </a:r>
            <a:r>
              <a:rPr lang="en-US" sz="3800" dirty="0">
                <a:latin typeface="Times New Roman" panose="02020603050405020304" pitchFamily="18" charset="0"/>
                <a:cs typeface="Times New Roman" panose="02020603050405020304" pitchFamily="18" charset="0"/>
              </a:rPr>
              <a:t> because they intentionally do not use internet, so their churn is not related to online security and should not be blamed on the product.</a:t>
            </a:r>
          </a:p>
          <a:p>
            <a:r>
              <a:rPr lang="en-US" sz="3800" dirty="0">
                <a:latin typeface="Times New Roman" panose="02020603050405020304" pitchFamily="18" charset="0"/>
                <a:cs typeface="Times New Roman" panose="02020603050405020304" pitchFamily="18" charset="0"/>
              </a:rPr>
              <a:t>Target customers without online security with awareness campaigns, bundled offers, and proactive retention strategies to lower their churn</a:t>
            </a:r>
            <a:r>
              <a:rPr lang="en-US" dirty="0">
                <a:latin typeface="Times New Roman" panose="02020603050405020304" pitchFamily="18" charset="0"/>
                <a:cs typeface="Times New Roman" panose="02020603050405020304" pitchFamily="18" charset="0"/>
              </a:rPr>
              <a:t>.</a:t>
            </a:r>
          </a:p>
          <a:p>
            <a:r>
              <a:rPr lang="en-US" sz="3800" dirty="0">
                <a:latin typeface="Times New Roman" panose="02020603050405020304" pitchFamily="18" charset="0"/>
                <a:cs typeface="Times New Roman" panose="02020603050405020304" pitchFamily="18" charset="0"/>
              </a:rPr>
              <a:t>Handle the No Internet segment separately, since their churn is unrelated to Online Security usage.</a:t>
            </a:r>
            <a:endParaRPr lang="en-IN" sz="3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D14BBDE-E91A-AEBA-82E7-2AC8D57B0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911" y="922628"/>
            <a:ext cx="6272797" cy="2896711"/>
          </a:xfrm>
          <a:prstGeom prst="rect">
            <a:avLst/>
          </a:prstGeom>
        </p:spPr>
      </p:pic>
    </p:spTree>
    <p:extLst>
      <p:ext uri="{BB962C8B-B14F-4D97-AF65-F5344CB8AC3E}">
        <p14:creationId xmlns:p14="http://schemas.microsoft.com/office/powerpoint/2010/main" val="4268154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55277-7D6D-8F59-4861-A5317D662BB4}"/>
              </a:ext>
            </a:extLst>
          </p:cNvPr>
          <p:cNvSpPr>
            <a:spLocks noGrp="1"/>
          </p:cNvSpPr>
          <p:nvPr>
            <p:ph type="title"/>
          </p:nvPr>
        </p:nvSpPr>
        <p:spPr>
          <a:xfrm>
            <a:off x="677334" y="218210"/>
            <a:ext cx="8596668" cy="706582"/>
          </a:xfrm>
        </p:spPr>
        <p:txBody>
          <a:bodyPr>
            <a:normAutofit/>
          </a:bodyPr>
          <a:lstStyle/>
          <a:p>
            <a:pPr algn="ctr"/>
            <a:r>
              <a:rPr lang="en-US" sz="3200" dirty="0">
                <a:latin typeface="Times New Roman" panose="02020603050405020304" pitchFamily="18" charset="0"/>
                <a:cs typeface="Times New Roman" panose="02020603050405020304" pitchFamily="18" charset="0"/>
              </a:rPr>
              <a:t>Impact of Tech Support on Customer Churn</a:t>
            </a:r>
            <a:endParaRPr lang="en-IN" sz="3200" dirty="0"/>
          </a:p>
        </p:txBody>
      </p:sp>
      <p:sp>
        <p:nvSpPr>
          <p:cNvPr id="3" name="Content Placeholder 2">
            <a:extLst>
              <a:ext uri="{FF2B5EF4-FFF2-40B4-BE49-F238E27FC236}">
                <a16:creationId xmlns:a16="http://schemas.microsoft.com/office/drawing/2014/main" id="{5B9550B7-5B06-ED8F-0368-C871D019072A}"/>
              </a:ext>
            </a:extLst>
          </p:cNvPr>
          <p:cNvSpPr>
            <a:spLocks noGrp="1"/>
          </p:cNvSpPr>
          <p:nvPr>
            <p:ph idx="1"/>
          </p:nvPr>
        </p:nvSpPr>
        <p:spPr>
          <a:xfrm>
            <a:off x="677334" y="3751118"/>
            <a:ext cx="8596668" cy="2290244"/>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Customers without tech support have the highest churn </a:t>
            </a:r>
            <a:r>
              <a:rPr lang="en-US" b="1" dirty="0">
                <a:latin typeface="Times New Roman" panose="02020603050405020304" pitchFamily="18" charset="0"/>
                <a:cs typeface="Times New Roman" panose="02020603050405020304" pitchFamily="18" charset="0"/>
              </a:rPr>
              <a:t>(41.6%)</a:t>
            </a:r>
            <a:r>
              <a:rPr lang="en-US" dirty="0">
                <a:latin typeface="Times New Roman" panose="02020603050405020304" pitchFamily="18" charset="0"/>
                <a:cs typeface="Times New Roman" panose="02020603050405020304" pitchFamily="18" charset="0"/>
              </a:rPr>
              <a:t>, indicating they are the most at-risk segment.</a:t>
            </a:r>
          </a:p>
          <a:p>
            <a:r>
              <a:rPr lang="en-US" dirty="0">
                <a:latin typeface="Times New Roman" panose="02020603050405020304" pitchFamily="18" charset="0"/>
                <a:cs typeface="Times New Roman" panose="02020603050405020304" pitchFamily="18" charset="0"/>
              </a:rPr>
              <a:t>Customers with tech support show a much lower churn rate </a:t>
            </a:r>
            <a:r>
              <a:rPr lang="en-US" b="1" dirty="0">
                <a:latin typeface="Times New Roman" panose="02020603050405020304" pitchFamily="18" charset="0"/>
                <a:cs typeface="Times New Roman" panose="02020603050405020304" pitchFamily="18" charset="0"/>
              </a:rPr>
              <a:t>(15.16%)</a:t>
            </a:r>
            <a:r>
              <a:rPr lang="en-US" dirty="0">
                <a:latin typeface="Times New Roman" panose="02020603050405020304" pitchFamily="18" charset="0"/>
                <a:cs typeface="Times New Roman" panose="02020603050405020304" pitchFamily="18" charset="0"/>
              </a:rPr>
              <a:t>, suggesting the service helps retain customers.</a:t>
            </a:r>
          </a:p>
          <a:p>
            <a:r>
              <a:rPr lang="en-US" dirty="0">
                <a:latin typeface="Times New Roman" panose="02020603050405020304" pitchFamily="18" charset="0"/>
                <a:cs typeface="Times New Roman" panose="02020603050405020304" pitchFamily="18" charset="0"/>
              </a:rPr>
              <a:t>Customers marked as No Internet have a low churn rate </a:t>
            </a:r>
            <a:r>
              <a:rPr lang="en-US" b="1" dirty="0">
                <a:latin typeface="Times New Roman" panose="02020603050405020304" pitchFamily="18" charset="0"/>
                <a:cs typeface="Times New Roman" panose="02020603050405020304" pitchFamily="18" charset="0"/>
              </a:rPr>
              <a:t>(7.4%)</a:t>
            </a:r>
            <a:r>
              <a:rPr lang="en-US" dirty="0">
                <a:latin typeface="Times New Roman" panose="02020603050405020304" pitchFamily="18" charset="0"/>
                <a:cs typeface="Times New Roman" panose="02020603050405020304" pitchFamily="18" charset="0"/>
              </a:rPr>
              <a:t> because they intentionally do not use internet, so their churn is not related to Tech support and should not be blamed on the product.</a:t>
            </a:r>
          </a:p>
          <a:p>
            <a:r>
              <a:rPr lang="en-US" dirty="0">
                <a:latin typeface="Times New Roman" panose="02020603050405020304" pitchFamily="18" charset="0"/>
                <a:cs typeface="Times New Roman" panose="02020603050405020304" pitchFamily="18" charset="0"/>
              </a:rPr>
              <a:t>Target customers without tech support with awareness campaigns, bundled offers, and proactive retention strategies to lower their churn.</a:t>
            </a:r>
          </a:p>
          <a:p>
            <a:r>
              <a:rPr lang="en-US" dirty="0">
                <a:latin typeface="Times New Roman" panose="02020603050405020304" pitchFamily="18" charset="0"/>
                <a:cs typeface="Times New Roman" panose="02020603050405020304" pitchFamily="18" charset="0"/>
              </a:rPr>
              <a:t>Handle the No Internet segment separately, since their churn is unrelated to Tech Support usage.</a:t>
            </a:r>
            <a:endParaRPr lang="en-IN"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230AB736-8B5B-5FA6-3654-554196B949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9269" y="816638"/>
            <a:ext cx="6272797" cy="2840962"/>
          </a:xfrm>
          <a:prstGeom prst="rect">
            <a:avLst/>
          </a:prstGeom>
        </p:spPr>
      </p:pic>
    </p:spTree>
    <p:extLst>
      <p:ext uri="{BB962C8B-B14F-4D97-AF65-F5344CB8AC3E}">
        <p14:creationId xmlns:p14="http://schemas.microsoft.com/office/powerpoint/2010/main" val="449749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876A4-4D97-BD98-E1F1-ADEA9F52805C}"/>
              </a:ext>
            </a:extLst>
          </p:cNvPr>
          <p:cNvSpPr>
            <a:spLocks noGrp="1"/>
          </p:cNvSpPr>
          <p:nvPr>
            <p:ph type="title"/>
          </p:nvPr>
        </p:nvSpPr>
        <p:spPr>
          <a:xfrm>
            <a:off x="677334" y="155864"/>
            <a:ext cx="8596668" cy="1774536"/>
          </a:xfrm>
        </p:spPr>
        <p:txBody>
          <a:bodyPr>
            <a:normAutofit/>
          </a:bodyPr>
          <a:lstStyle/>
          <a:p>
            <a:pPr algn="ctr"/>
            <a:r>
              <a:rPr lang="en-US" sz="3200" dirty="0">
                <a:latin typeface="Times New Roman" panose="02020603050405020304" pitchFamily="18" charset="0"/>
                <a:cs typeface="Times New Roman" panose="02020603050405020304" pitchFamily="18" charset="0"/>
              </a:rPr>
              <a:t>Impact of Dependents on Customer Churn</a:t>
            </a:r>
            <a:br>
              <a:rPr lang="en-US"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AFDD1F-1BB6-5D78-0EC5-F449CFD86DE7}"/>
              </a:ext>
            </a:extLst>
          </p:cNvPr>
          <p:cNvSpPr>
            <a:spLocks noGrp="1"/>
          </p:cNvSpPr>
          <p:nvPr>
            <p:ph idx="1"/>
          </p:nvPr>
        </p:nvSpPr>
        <p:spPr>
          <a:xfrm>
            <a:off x="677334" y="3647209"/>
            <a:ext cx="8596668" cy="2601191"/>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Customers with dependents have a lower churn rate (</a:t>
            </a:r>
            <a:r>
              <a:rPr lang="en-US" b="1" dirty="0">
                <a:latin typeface="Times New Roman" panose="02020603050405020304" pitchFamily="18" charset="0"/>
                <a:cs typeface="Times New Roman" panose="02020603050405020304" pitchFamily="18" charset="0"/>
              </a:rPr>
              <a:t>15.45%</a:t>
            </a:r>
            <a:r>
              <a:rPr lang="en-US" dirty="0">
                <a:latin typeface="Times New Roman" panose="02020603050405020304" pitchFamily="18" charset="0"/>
                <a:cs typeface="Times New Roman" panose="02020603050405020304" pitchFamily="18" charset="0"/>
              </a:rPr>
              <a:t>), suggesting they are more stable, more value-focused, and less likely to leave.</a:t>
            </a:r>
          </a:p>
          <a:p>
            <a:r>
              <a:rPr lang="en-US" dirty="0">
                <a:latin typeface="Times New Roman" panose="02020603050405020304" pitchFamily="18" charset="0"/>
                <a:cs typeface="Times New Roman" panose="02020603050405020304" pitchFamily="18" charset="0"/>
              </a:rPr>
              <a:t>Customers without dependents show a much higher churn rate (</a:t>
            </a:r>
            <a:r>
              <a:rPr lang="en-US" b="1" dirty="0">
                <a:latin typeface="Times New Roman" panose="02020603050405020304" pitchFamily="18" charset="0"/>
                <a:cs typeface="Times New Roman" panose="02020603050405020304" pitchFamily="18" charset="0"/>
              </a:rPr>
              <a:t>31.27%</a:t>
            </a:r>
            <a:r>
              <a:rPr lang="en-US" dirty="0">
                <a:latin typeface="Times New Roman" panose="02020603050405020304" pitchFamily="18" charset="0"/>
                <a:cs typeface="Times New Roman" panose="02020603050405020304" pitchFamily="18" charset="0"/>
              </a:rPr>
              <a:t>), indicating they are more price-sensitive, quicker to switch, or less tied to long-term commitments.</a:t>
            </a:r>
          </a:p>
          <a:p>
            <a:r>
              <a:rPr lang="en-US" dirty="0">
                <a:latin typeface="Times New Roman" panose="02020603050405020304" pitchFamily="18" charset="0"/>
                <a:cs typeface="Times New Roman" panose="02020603050405020304" pitchFamily="18" charset="0"/>
              </a:rPr>
              <a:t>Dependents appear to act as a retention factor, reducing the likelihood of churn.</a:t>
            </a:r>
          </a:p>
          <a:p>
            <a:r>
              <a:rPr lang="en-US" dirty="0">
                <a:latin typeface="Times New Roman" panose="02020603050405020304" pitchFamily="18" charset="0"/>
                <a:cs typeface="Times New Roman" panose="02020603050405020304" pitchFamily="18" charset="0"/>
              </a:rPr>
              <a:t>Target customers without dependents with loyalty offers, discounts, and personalized retention campaigns, since they are the highest-risk group.</a:t>
            </a:r>
          </a:p>
          <a:p>
            <a:r>
              <a:rPr lang="en-US" dirty="0">
                <a:latin typeface="Times New Roman" panose="02020603050405020304" pitchFamily="18" charset="0"/>
                <a:cs typeface="Times New Roman" panose="02020603050405020304" pitchFamily="18" charset="0"/>
              </a:rPr>
              <a:t>For customers with dependents, consider family-oriented bundles or add-ons to strengthen retention further.</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2009FB4-1496-CBA4-2098-79A3D051A7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1518" y="748145"/>
            <a:ext cx="6272797" cy="2899064"/>
          </a:xfrm>
          <a:prstGeom prst="rect">
            <a:avLst/>
          </a:prstGeom>
        </p:spPr>
      </p:pic>
    </p:spTree>
    <p:extLst>
      <p:ext uri="{BB962C8B-B14F-4D97-AF65-F5344CB8AC3E}">
        <p14:creationId xmlns:p14="http://schemas.microsoft.com/office/powerpoint/2010/main" val="1567547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AF9F0-A4C4-2F2F-8DC1-92B728902D56}"/>
              </a:ext>
            </a:extLst>
          </p:cNvPr>
          <p:cNvSpPr>
            <a:spLocks noGrp="1"/>
          </p:cNvSpPr>
          <p:nvPr>
            <p:ph type="title"/>
          </p:nvPr>
        </p:nvSpPr>
        <p:spPr>
          <a:xfrm>
            <a:off x="677334" y="280556"/>
            <a:ext cx="8596668" cy="623454"/>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Impact of Paperless Billing on Customer Churn</a:t>
            </a:r>
            <a:br>
              <a:rPr lang="en-US" dirty="0"/>
            </a:br>
            <a:endParaRPr lang="en-IN" dirty="0"/>
          </a:p>
        </p:txBody>
      </p:sp>
      <p:sp>
        <p:nvSpPr>
          <p:cNvPr id="3" name="Content Placeholder 2">
            <a:extLst>
              <a:ext uri="{FF2B5EF4-FFF2-40B4-BE49-F238E27FC236}">
                <a16:creationId xmlns:a16="http://schemas.microsoft.com/office/drawing/2014/main" id="{7B766FC9-9795-ABF6-1294-6212F7C48BCE}"/>
              </a:ext>
            </a:extLst>
          </p:cNvPr>
          <p:cNvSpPr>
            <a:spLocks noGrp="1"/>
          </p:cNvSpPr>
          <p:nvPr>
            <p:ph idx="1"/>
          </p:nvPr>
        </p:nvSpPr>
        <p:spPr>
          <a:xfrm>
            <a:off x="677334" y="3771900"/>
            <a:ext cx="8596668" cy="2493818"/>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Customers using paperless billing have a higher churn rate (</a:t>
            </a:r>
            <a:r>
              <a:rPr lang="en-US" b="1" dirty="0">
                <a:latin typeface="Times New Roman" panose="02020603050405020304" pitchFamily="18" charset="0"/>
                <a:cs typeface="Times New Roman" panose="02020603050405020304" pitchFamily="18" charset="0"/>
              </a:rPr>
              <a:t>33.56%</a:t>
            </a:r>
            <a:r>
              <a:rPr lang="en-US" dirty="0">
                <a:latin typeface="Times New Roman" panose="02020603050405020304" pitchFamily="18" charset="0"/>
                <a:cs typeface="Times New Roman" panose="02020603050405020304" pitchFamily="18" charset="0"/>
              </a:rPr>
              <a:t>), suggesting they may be more digitally active, more price-aware, and quicker to switch to competitors.</a:t>
            </a:r>
          </a:p>
          <a:p>
            <a:r>
              <a:rPr lang="en-US" dirty="0">
                <a:latin typeface="Times New Roman" panose="02020603050405020304" pitchFamily="18" charset="0"/>
                <a:cs typeface="Times New Roman" panose="02020603050405020304" pitchFamily="18" charset="0"/>
              </a:rPr>
              <a:t>Customers not using paperless billing show a lower churn rate (</a:t>
            </a:r>
            <a:r>
              <a:rPr lang="en-US" b="1" dirty="0">
                <a:latin typeface="Times New Roman" panose="02020603050405020304" pitchFamily="18" charset="0"/>
                <a:cs typeface="Times New Roman" panose="02020603050405020304" pitchFamily="18" charset="0"/>
              </a:rPr>
              <a:t>16.33%</a:t>
            </a:r>
            <a:r>
              <a:rPr lang="en-US" dirty="0">
                <a:latin typeface="Times New Roman" panose="02020603050405020304" pitchFamily="18" charset="0"/>
                <a:cs typeface="Times New Roman" panose="02020603050405020304" pitchFamily="18" charset="0"/>
              </a:rPr>
              <a:t>), indicating they tend to be more traditional and more stable.</a:t>
            </a:r>
          </a:p>
          <a:p>
            <a:r>
              <a:rPr lang="en-US" dirty="0">
                <a:latin typeface="Times New Roman" panose="02020603050405020304" pitchFamily="18" charset="0"/>
                <a:cs typeface="Times New Roman" panose="02020603050405020304" pitchFamily="18" charset="0"/>
              </a:rPr>
              <a:t>Paperless billing customers appear to be a higher-risk churn segment, not because of billing mode itself but due to their behavior patterns.</a:t>
            </a:r>
          </a:p>
          <a:p>
            <a:r>
              <a:rPr lang="en-US" dirty="0">
                <a:latin typeface="Times New Roman" panose="02020603050405020304" pitchFamily="18" charset="0"/>
                <a:cs typeface="Times New Roman" panose="02020603050405020304" pitchFamily="18" charset="0"/>
              </a:rPr>
              <a:t>Focus retention efforts on paperless billing users through personalized offers, better digital engagement, and proactive communication.</a:t>
            </a:r>
          </a:p>
          <a:p>
            <a:r>
              <a:rPr lang="en-US" dirty="0">
                <a:latin typeface="Times New Roman" panose="02020603050405020304" pitchFamily="18" charset="0"/>
                <a:cs typeface="Times New Roman" panose="02020603050405020304" pitchFamily="18" charset="0"/>
              </a:rPr>
              <a:t>Improve digital billing experience with clear statements, reminders, and value messaging to reduce dissatisfaction.</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8282E7E-50B8-EE64-3730-BAA8B9E818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3637" y="961160"/>
            <a:ext cx="6272797" cy="2753590"/>
          </a:xfrm>
          <a:prstGeom prst="rect">
            <a:avLst/>
          </a:prstGeom>
        </p:spPr>
      </p:pic>
    </p:spTree>
    <p:extLst>
      <p:ext uri="{BB962C8B-B14F-4D97-AF65-F5344CB8AC3E}">
        <p14:creationId xmlns:p14="http://schemas.microsoft.com/office/powerpoint/2010/main" val="923290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38FB9-5E7E-5ED7-CA12-5E90FDCA663B}"/>
              </a:ext>
            </a:extLst>
          </p:cNvPr>
          <p:cNvSpPr>
            <a:spLocks noGrp="1"/>
          </p:cNvSpPr>
          <p:nvPr>
            <p:ph type="ctrTitle"/>
          </p:nvPr>
        </p:nvSpPr>
        <p:spPr/>
        <p:txBody>
          <a:bodyPr/>
          <a:lstStyle/>
          <a:p>
            <a:pPr algn="ctr"/>
            <a:r>
              <a:rPr lang="en-US" b="1" dirty="0">
                <a:solidFill>
                  <a:schemeClr val="accent1">
                    <a:lumMod val="60000"/>
                    <a:lumOff val="40000"/>
                  </a:schemeClr>
                </a:solidFill>
                <a:latin typeface="Times New Roman" panose="02020603050405020304" pitchFamily="18" charset="0"/>
                <a:cs typeface="Times New Roman" panose="02020603050405020304" pitchFamily="18" charset="0"/>
              </a:rPr>
              <a:t>Key insights derived from SQL analysis</a:t>
            </a:r>
            <a:endParaRPr lang="en-IN" b="1"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2C971C-68F3-E106-B3DB-84187318CFF1}"/>
              </a:ext>
            </a:extLst>
          </p:cNvPr>
          <p:cNvSpPr>
            <a:spLocks noGrp="1"/>
          </p:cNvSpPr>
          <p:nvPr>
            <p:ph type="subTitle" idx="1"/>
          </p:nvPr>
        </p:nvSpPr>
        <p:spPr/>
        <p:txBody>
          <a:bodyPr>
            <a:normAutofit/>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9485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BE95C-EF3F-3175-E54E-12BB2FEEF802}"/>
              </a:ext>
            </a:extLst>
          </p:cNvPr>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Longer Commitment improves customer retention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8FB578-427F-ACB6-27F4-6927F2835269}"/>
              </a:ext>
            </a:extLst>
          </p:cNvPr>
          <p:cNvSpPr>
            <a:spLocks noGrp="1"/>
          </p:cNvSpPr>
          <p:nvPr>
            <p:ph idx="1"/>
          </p:nvPr>
        </p:nvSpPr>
        <p:spPr/>
        <p:txBody>
          <a:bodyPr>
            <a:normAutofit/>
          </a:bodyPr>
          <a:lstStyle/>
          <a:p>
            <a:endParaRPr lang="en-US" dirty="0"/>
          </a:p>
          <a:p>
            <a:endParaRPr lang="en-IN" dirty="0"/>
          </a:p>
          <a:p>
            <a:endParaRPr lang="en-IN" dirty="0"/>
          </a:p>
          <a:p>
            <a:endParaRPr lang="en-IN" dirty="0"/>
          </a:p>
          <a:p>
            <a:endParaRPr lang="en-IN" dirty="0"/>
          </a:p>
          <a:p>
            <a:endParaRPr lang="en-IN" dirty="0"/>
          </a:p>
          <a:p>
            <a:r>
              <a:rPr lang="en-US" dirty="0">
                <a:latin typeface="Times New Roman" panose="02020603050405020304" pitchFamily="18" charset="0"/>
                <a:cs typeface="Times New Roman" panose="02020603050405020304" pitchFamily="18" charset="0"/>
              </a:rPr>
              <a:t>Customers having month-to-month contract type have churned more indicates that short term commitment increases the likelihood of customer cancellation whereas 1year and 2year contracts show much lower churn indicates that long term commitment improves customer retention.</a:t>
            </a:r>
          </a:p>
          <a:p>
            <a:endParaRPr lang="en-IN" dirty="0"/>
          </a:p>
        </p:txBody>
      </p:sp>
      <p:pic>
        <p:nvPicPr>
          <p:cNvPr id="5" name="Picture 4">
            <a:extLst>
              <a:ext uri="{FF2B5EF4-FFF2-40B4-BE49-F238E27FC236}">
                <a16:creationId xmlns:a16="http://schemas.microsoft.com/office/drawing/2014/main" id="{8C29443F-8A97-765B-ECD7-5023B68AE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0450" y="1340428"/>
            <a:ext cx="6272797" cy="3001522"/>
          </a:xfrm>
          <a:prstGeom prst="rect">
            <a:avLst/>
          </a:prstGeom>
        </p:spPr>
      </p:pic>
    </p:spTree>
    <p:extLst>
      <p:ext uri="{BB962C8B-B14F-4D97-AF65-F5344CB8AC3E}">
        <p14:creationId xmlns:p14="http://schemas.microsoft.com/office/powerpoint/2010/main" val="2348861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CBFA8-9E26-B4EF-6FA2-EA42DA84ACE1}"/>
              </a:ext>
            </a:extLst>
          </p:cNvPr>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Fiber Optic Customers contribute more to revenue</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10BC62-DC07-71C0-EA74-44349E523F55}"/>
              </a:ext>
            </a:extLst>
          </p:cNvPr>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r>
              <a:rPr lang="en-IN" dirty="0">
                <a:latin typeface="Times New Roman" panose="02020603050405020304" pitchFamily="18" charset="0"/>
                <a:cs typeface="Times New Roman" panose="02020603050405020304" pitchFamily="18" charset="0"/>
              </a:rPr>
              <a:t>Fiber optic customers have highest average monthly charges compared to DSL and No internet service customers.</a:t>
            </a:r>
          </a:p>
          <a:p>
            <a:r>
              <a:rPr lang="en-IN" dirty="0">
                <a:latin typeface="Times New Roman" panose="02020603050405020304" pitchFamily="18" charset="0"/>
                <a:cs typeface="Times New Roman" panose="02020603050405020304" pitchFamily="18" charset="0"/>
              </a:rPr>
              <a:t>This suggests that Fiber optic plans are premium offering, generating more revenue per customer.</a:t>
            </a:r>
          </a:p>
          <a:p>
            <a:r>
              <a:rPr lang="en-IN" dirty="0">
                <a:latin typeface="Times New Roman" panose="02020603050405020304" pitchFamily="18" charset="0"/>
                <a:cs typeface="Times New Roman" panose="02020603050405020304" pitchFamily="18" charset="0"/>
              </a:rPr>
              <a:t>Customer with no internet service contribute the least to monthly revenue.</a:t>
            </a:r>
          </a:p>
          <a:p>
            <a:endParaRPr lang="en-IN" dirty="0"/>
          </a:p>
        </p:txBody>
      </p:sp>
      <p:pic>
        <p:nvPicPr>
          <p:cNvPr id="7" name="Picture 6">
            <a:extLst>
              <a:ext uri="{FF2B5EF4-FFF2-40B4-BE49-F238E27FC236}">
                <a16:creationId xmlns:a16="http://schemas.microsoft.com/office/drawing/2014/main" id="{8B37DEF7-38EE-A1F9-6116-D5FC0792DC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9269" y="1179018"/>
            <a:ext cx="6272797" cy="3153991"/>
          </a:xfrm>
          <a:prstGeom prst="rect">
            <a:avLst/>
          </a:prstGeom>
        </p:spPr>
      </p:pic>
    </p:spTree>
    <p:extLst>
      <p:ext uri="{BB962C8B-B14F-4D97-AF65-F5344CB8AC3E}">
        <p14:creationId xmlns:p14="http://schemas.microsoft.com/office/powerpoint/2010/main" val="1079431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79407-B68B-3ACE-24FA-E92A057FB840}"/>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Older Customers more likely to Churn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3C9BA5-097F-A600-9D13-FCE20F2AC55A}"/>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r>
              <a:rPr lang="en-US" dirty="0">
                <a:latin typeface="Times New Roman" panose="02020603050405020304" pitchFamily="18" charset="0"/>
                <a:cs typeface="Times New Roman" panose="02020603050405020304" pitchFamily="18" charset="0"/>
              </a:rPr>
              <a:t>Younger Customers are more likely to retain the service rather than older customers.</a:t>
            </a:r>
          </a:p>
          <a:p>
            <a:r>
              <a:rPr lang="en-US" dirty="0">
                <a:latin typeface="Times New Roman" panose="02020603050405020304" pitchFamily="18" charset="0"/>
                <a:cs typeface="Times New Roman" panose="02020603050405020304" pitchFamily="18" charset="0"/>
              </a:rPr>
              <a:t>The churn rate among senior citizens is significantly higher(</a:t>
            </a:r>
            <a:r>
              <a:rPr lang="en-US" b="1" dirty="0">
                <a:latin typeface="Times New Roman" panose="02020603050405020304" pitchFamily="18" charset="0"/>
                <a:cs typeface="Times New Roman" panose="02020603050405020304" pitchFamily="18" charset="0"/>
              </a:rPr>
              <a:t>41.7%</a:t>
            </a:r>
            <a:r>
              <a:rPr lang="en-US" dirty="0">
                <a:latin typeface="Times New Roman" panose="02020603050405020304" pitchFamily="18" charset="0"/>
                <a:cs typeface="Times New Roman" panose="02020603050405020304" pitchFamily="18" charset="0"/>
              </a:rPr>
              <a:t>), indicating that this segment may require targeted retention strategies or improved customer support to reduce attrition.</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AB5A580-D999-5432-5825-21EA1D91DF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0901" y="1181129"/>
            <a:ext cx="6272797" cy="2979882"/>
          </a:xfrm>
          <a:prstGeom prst="rect">
            <a:avLst/>
          </a:prstGeom>
        </p:spPr>
      </p:pic>
    </p:spTree>
    <p:extLst>
      <p:ext uri="{BB962C8B-B14F-4D97-AF65-F5344CB8AC3E}">
        <p14:creationId xmlns:p14="http://schemas.microsoft.com/office/powerpoint/2010/main" val="1352391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5E3E4-D0E8-BD2B-0ED8-C62B2B2CDB5B}"/>
              </a:ext>
            </a:extLst>
          </p:cNvPr>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Churn Customers have lower avg tenure</a:t>
            </a:r>
            <a:br>
              <a:rPr lang="en-US"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BEA2AE-1DC4-4748-928D-6B1D19D0DA9D}"/>
              </a:ext>
            </a:extLst>
          </p:cNvPr>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r>
              <a:rPr lang="en-US" dirty="0">
                <a:latin typeface="Times New Roman" panose="02020603050405020304" pitchFamily="18" charset="0"/>
                <a:cs typeface="Times New Roman" panose="02020603050405020304" pitchFamily="18" charset="0"/>
              </a:rPr>
              <a:t>Customers with shorter tenure(</a:t>
            </a:r>
            <a:r>
              <a:rPr lang="en-US" b="1" dirty="0">
                <a:latin typeface="Times New Roman" panose="02020603050405020304" pitchFamily="18" charset="0"/>
                <a:cs typeface="Times New Roman" panose="02020603050405020304" pitchFamily="18" charset="0"/>
              </a:rPr>
              <a:t>18</a:t>
            </a:r>
            <a:r>
              <a:rPr lang="en-US" dirty="0">
                <a:latin typeface="Times New Roman" panose="02020603050405020304" pitchFamily="18" charset="0"/>
                <a:cs typeface="Times New Roman" panose="02020603050405020304" pitchFamily="18" charset="0"/>
              </a:rPr>
              <a:t>) are more likely to churn, while long-term customers tend to stay loyal. This shows that the risk of churn is highest during the early stage of the customer relationship.</a:t>
            </a:r>
          </a:p>
          <a:p>
            <a:r>
              <a:rPr lang="en-US" dirty="0">
                <a:latin typeface="Times New Roman" panose="02020603050405020304" pitchFamily="18" charset="0"/>
                <a:cs typeface="Times New Roman" panose="02020603050405020304" pitchFamily="18" charset="0"/>
              </a:rPr>
              <a:t>Provide early engagement offers or loyalty rewards within the first few months.</a:t>
            </a:r>
          </a:p>
          <a:p>
            <a:r>
              <a:rPr lang="en-US" dirty="0">
                <a:latin typeface="Times New Roman" panose="02020603050405020304" pitchFamily="18" charset="0"/>
                <a:cs typeface="Times New Roman" panose="02020603050405020304" pitchFamily="18" charset="0"/>
              </a:rPr>
              <a:t>Proactively monitor new customers’ satisfaction using surveys or feedback systems.</a:t>
            </a:r>
          </a:p>
          <a:p>
            <a:endParaRPr lang="en-US" dirty="0"/>
          </a:p>
          <a:p>
            <a:endParaRPr lang="en-US" dirty="0"/>
          </a:p>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A57A407-AA8C-CE50-1380-C70F322BF8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1519" y="1166132"/>
            <a:ext cx="6272797" cy="2938277"/>
          </a:xfrm>
          <a:prstGeom prst="rect">
            <a:avLst/>
          </a:prstGeom>
        </p:spPr>
      </p:pic>
    </p:spTree>
    <p:extLst>
      <p:ext uri="{BB962C8B-B14F-4D97-AF65-F5344CB8AC3E}">
        <p14:creationId xmlns:p14="http://schemas.microsoft.com/office/powerpoint/2010/main" val="3151218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A3B34-660E-9B3E-4C41-093204F8D775}"/>
              </a:ext>
            </a:extLst>
          </p:cNvPr>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Top 3 payment method having highest Churn Rate</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6DED75-1088-591A-7FF4-31F36FEE3DB5}"/>
              </a:ext>
            </a:extLst>
          </p:cNvPr>
          <p:cNvSpPr>
            <a:spLocks noGrp="1"/>
          </p:cNvSpPr>
          <p:nvPr>
            <p:ph idx="1"/>
          </p:nvPr>
        </p:nvSpPr>
        <p:spPr/>
        <p:txBody>
          <a:bodyPr>
            <a:normAutofit fontScale="92500" lnSpcReduction="20000"/>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Customers using Electronic Check as their payment method show the highest churn rate (45.28%).</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Since this payment type depends on internet access, it’s likely that connectivity or network issues may be contributing to higher churn among these users.</a:t>
            </a:r>
          </a:p>
          <a:p>
            <a:r>
              <a:rPr lang="en-US" dirty="0">
                <a:latin typeface="Times New Roman" panose="02020603050405020304" pitchFamily="18" charset="0"/>
                <a:cs typeface="Times New Roman" panose="02020603050405020304" pitchFamily="18" charset="0"/>
              </a:rPr>
              <a:t>Investigate internet-related issues reported by customers using electronic check payments.</a:t>
            </a:r>
          </a:p>
          <a:p>
            <a:r>
              <a:rPr lang="en-US" dirty="0">
                <a:latin typeface="Times New Roman" panose="02020603050405020304" pitchFamily="18" charset="0"/>
                <a:cs typeface="Times New Roman" panose="02020603050405020304" pitchFamily="18" charset="0"/>
              </a:rPr>
              <a:t>Promote offline or auto-debit payment options to reduce dependency on internet connectivity.</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B4F1CD6-581E-889B-8C53-2D6B205F6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0346" y="1121134"/>
            <a:ext cx="6272797" cy="2979841"/>
          </a:xfrm>
          <a:prstGeom prst="rect">
            <a:avLst/>
          </a:prstGeom>
        </p:spPr>
      </p:pic>
    </p:spTree>
    <p:extLst>
      <p:ext uri="{BB962C8B-B14F-4D97-AF65-F5344CB8AC3E}">
        <p14:creationId xmlns:p14="http://schemas.microsoft.com/office/powerpoint/2010/main" val="1360876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C8688-0D66-7CB5-CD6A-8CD821D85AB5}"/>
              </a:ext>
            </a:extLst>
          </p:cNvPr>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Internet only customers have the highest churn rate</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A8A6638-59C3-49E5-2FA7-AC4190813039}"/>
              </a:ext>
            </a:extLst>
          </p:cNvPr>
          <p:cNvSpPr>
            <a:spLocks noGrp="1"/>
          </p:cNvSpPr>
          <p:nvPr>
            <p:ph idx="1"/>
          </p:nvPr>
        </p:nvSpPr>
        <p:spPr/>
        <p:txBody>
          <a:bodyPr>
            <a:normAutofit fontScale="92500" lnSpcReduction="20000"/>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Customers who use only Internet Service have the highest churn rate (24.9%), followed by those using both Internet and Phone </a:t>
            </a:r>
            <a:r>
              <a:rPr lang="en-US">
                <a:latin typeface="Times New Roman" panose="02020603050405020304" pitchFamily="18" charset="0"/>
                <a:cs typeface="Times New Roman" panose="02020603050405020304" pitchFamily="18" charset="0"/>
              </a:rPr>
              <a:t>services (32.80%%).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Customers with only Phone Service show the lowest churn rate (7.4%), suggesting that internet-related issues or dissatisfaction may be the key churn drivers.</a:t>
            </a:r>
          </a:p>
          <a:p>
            <a:r>
              <a:rPr lang="en-US" dirty="0">
                <a:latin typeface="Times New Roman" panose="02020603050405020304" pitchFamily="18" charset="0"/>
                <a:cs typeface="Times New Roman" panose="02020603050405020304" pitchFamily="18" charset="0"/>
              </a:rPr>
              <a:t>Improve internet service reliability and address frequent connectivity or speed issues.</a:t>
            </a:r>
          </a:p>
          <a:p>
            <a:r>
              <a:rPr lang="en-US" dirty="0">
                <a:latin typeface="Times New Roman" panose="02020603050405020304" pitchFamily="18" charset="0"/>
                <a:cs typeface="Times New Roman" panose="02020603050405020304" pitchFamily="18" charset="0"/>
              </a:rPr>
              <a:t>Enhance customer support for internet-related complaints.</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1580211-C39C-DB4D-6A9E-7057864DBB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9269" y="1270000"/>
            <a:ext cx="6272797" cy="2730500"/>
          </a:xfrm>
          <a:prstGeom prst="rect">
            <a:avLst/>
          </a:prstGeom>
        </p:spPr>
      </p:pic>
    </p:spTree>
    <p:extLst>
      <p:ext uri="{BB962C8B-B14F-4D97-AF65-F5344CB8AC3E}">
        <p14:creationId xmlns:p14="http://schemas.microsoft.com/office/powerpoint/2010/main" val="194700204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550</TotalTime>
  <Words>935</Words>
  <Application>Microsoft Office PowerPoint</Application>
  <PresentationFormat>Widescreen</PresentationFormat>
  <Paragraphs>106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Times New Roman</vt:lpstr>
      <vt:lpstr>Trebuchet MS</vt:lpstr>
      <vt:lpstr>Wingdings 3</vt:lpstr>
      <vt:lpstr>Facet</vt:lpstr>
      <vt:lpstr>Customer Churn Analysis</vt:lpstr>
      <vt:lpstr>Key Insights derived from EDA</vt:lpstr>
      <vt:lpstr>Impact of Internet Service on Customer Churn</vt:lpstr>
      <vt:lpstr>Impact of Online Security on Customer Churn</vt:lpstr>
      <vt:lpstr>Impact of Tech Support on Customer Churn</vt:lpstr>
      <vt:lpstr>Impact of Dependents on Customer Churn </vt:lpstr>
      <vt:lpstr>Impact of Paperless Billing on Customer Churn </vt:lpstr>
      <vt:lpstr>Key insights derived from SQL analysis</vt:lpstr>
      <vt:lpstr>Longer Commitment improves customer retention</vt:lpstr>
      <vt:lpstr>Fiber Optic Customers contribute more to revenue</vt:lpstr>
      <vt:lpstr>Older Customers more likely to Churn</vt:lpstr>
      <vt:lpstr>Churn Customers have lower avg tenure </vt:lpstr>
      <vt:lpstr>Top 3 payment method having highest Churn Rate</vt:lpstr>
      <vt:lpstr>Internet only customers have the highest churn rate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AYON DAS</dc:creator>
  <cp:lastModifiedBy>AYON DAS</cp:lastModifiedBy>
  <cp:revision>23</cp:revision>
  <dcterms:created xsi:type="dcterms:W3CDTF">2025-10-31T16:49:22Z</dcterms:created>
  <dcterms:modified xsi:type="dcterms:W3CDTF">2025-11-12T17:27:22Z</dcterms:modified>
</cp:coreProperties>
</file>